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60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650AD6-5729-45CB-AD54-BC85F2D30040}" v="1770" dt="2025-11-29T10:04:26.9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1079500"/>
            <a:ext cx="7797799" cy="2138400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95C8C-0A7F-40D9-A690-3D5898EFF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8350" y="4113213"/>
            <a:ext cx="55753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322F3-E47A-4D6E-96A8-AB5C73BA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F5CE-9E66-4FD5-949F-34E11607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AB7A-4032-416A-B04E-1F487891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1C0CAB-6A03-4C6A-9FAA-219847753628}"/>
              </a:ext>
            </a:extLst>
          </p:cNvPr>
          <p:cNvCxnSpPr>
            <a:cxnSpLocks/>
          </p:cNvCxnSpPr>
          <p:nvPr/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82E0B2-AA9C-441C-A08E-A9DF9CF12116}"/>
              </a:ext>
            </a:extLst>
          </p:cNvPr>
          <p:cNvGrpSpPr/>
          <p:nvPr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682529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217A-A229-4751-8D09-0CAD914F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A33-60C3-4B28-B3EF-E93D6D46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D3B28-C66B-4279-AB67-2BC1D012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8FF39-A0DA-4F77-9297-B83C86B5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D65A-9D4E-42F6-A8BF-1EEAFB18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482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17BB-B242-4CC6-887C-83E08CE2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2252663"/>
            <a:ext cx="4457700" cy="2349500"/>
          </a:xfrm>
        </p:spPr>
        <p:txBody>
          <a:bodyPr anchor="ctr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5823-EA83-493F-8FEC-C72B5B9CF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4800" y="2252664"/>
            <a:ext cx="4451348" cy="2349500"/>
          </a:xfrm>
        </p:spPr>
        <p:txBody>
          <a:bodyPr anchor="ctr" anchorCtr="0"/>
          <a:lstStyle>
            <a:lvl1pPr marL="0" indent="0">
              <a:buNone/>
              <a:defRPr sz="2400" i="1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08E54-36BB-4AB4-BE1F-5FA8207B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3A6A-C55A-40A1-A3BB-DB417047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E656-7AC0-4BD3-AFE5-4B5122E2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ABE19D-0B51-4388-93D1-0CD6B767115D}"/>
              </a:ext>
            </a:extLst>
          </p:cNvPr>
          <p:cNvGrpSpPr/>
          <p:nvPr/>
        </p:nvGrpSpPr>
        <p:grpSpPr>
          <a:xfrm>
            <a:off x="999771" y="932104"/>
            <a:ext cx="913428" cy="1032464"/>
            <a:chOff x="999771" y="932104"/>
            <a:chExt cx="913428" cy="103246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6226ED6-7133-4222-9552-0EA4B1B3C9FB}"/>
                </a:ext>
              </a:extLst>
            </p:cNvPr>
            <p:cNvGrpSpPr/>
            <p:nvPr/>
          </p:nvGrpSpPr>
          <p:grpSpPr>
            <a:xfrm rot="8100000" flipV="1">
              <a:off x="1047457" y="1290386"/>
              <a:ext cx="865742" cy="628383"/>
              <a:chOff x="558167" y="958515"/>
              <a:chExt cx="865742" cy="628383"/>
            </a:xfrm>
            <a:solidFill>
              <a:schemeClr val="accent3"/>
            </a:solidFill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E810E40-D42F-4034-93BA-54446465D20B}"/>
                  </a:ext>
                </a:extLst>
              </p:cNvPr>
              <p:cNvSpPr/>
              <p:nvPr/>
            </p:nvSpPr>
            <p:spPr>
              <a:xfrm rot="8100000" flipH="1">
                <a:off x="558167" y="1122160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F6BFC2-CA89-42B8-8A5A-E9F26BA87FBB}"/>
                  </a:ext>
                </a:extLst>
              </p:cNvPr>
              <p:cNvSpPr/>
              <p:nvPr/>
            </p:nvSpPr>
            <p:spPr>
              <a:xfrm rot="5400000" flipH="1">
                <a:off x="959170" y="95851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CA36485-DC1D-48C9-91B2-425DBC66D471}"/>
                </a:ext>
              </a:extLst>
            </p:cNvPr>
            <p:cNvGrpSpPr/>
            <p:nvPr/>
          </p:nvGrpSpPr>
          <p:grpSpPr>
            <a:xfrm rot="10800000" flipH="1" flipV="1">
              <a:off x="999771" y="932104"/>
              <a:ext cx="864005" cy="1032464"/>
              <a:chOff x="2207971" y="2384401"/>
              <a:chExt cx="864005" cy="1032464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ACF276E-196C-4923-B7D1-48A8E6A1669C}"/>
                  </a:ext>
                </a:extLst>
              </p:cNvPr>
              <p:cNvSpPr/>
              <p:nvPr/>
            </p:nvSpPr>
            <p:spPr>
              <a:xfrm rot="13500000">
                <a:off x="2207971" y="285630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FE3686C-DFF6-4995-81B8-FA38F5BB0401}"/>
                  </a:ext>
                </a:extLst>
              </p:cNvPr>
              <p:cNvSpPr/>
              <p:nvPr/>
            </p:nvSpPr>
            <p:spPr>
              <a:xfrm rot="10800000">
                <a:off x="2607238" y="2688467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DCBF653-CCB9-47B2-9DD9-68847A45D82D}"/>
                  </a:ext>
                </a:extLst>
              </p:cNvPr>
              <p:cNvGrpSpPr/>
              <p:nvPr/>
            </p:nvGrpSpPr>
            <p:grpSpPr>
              <a:xfrm>
                <a:off x="2440769" y="2384401"/>
                <a:ext cx="313009" cy="1032464"/>
                <a:chOff x="2440769" y="2384401"/>
                <a:chExt cx="313009" cy="1032464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F081A1F-C7C9-4907-AAED-B4E9B6497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2440769" y="2516865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4F8F89A-0719-4D9A-8379-9EEBD72010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100000" flipH="1">
                  <a:off x="2753778" y="2384401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AA5779-FF0F-4ACF-A56C-710A4CDEC8A3}"/>
              </a:ext>
            </a:extLst>
          </p:cNvPr>
          <p:cNvGrpSpPr/>
          <p:nvPr/>
        </p:nvGrpSpPr>
        <p:grpSpPr>
          <a:xfrm>
            <a:off x="1437136" y="649304"/>
            <a:ext cx="388541" cy="388541"/>
            <a:chOff x="5752675" y="5440856"/>
            <a:chExt cx="388541" cy="38854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F0ADB13-4626-4F84-B513-0B58E65C248E}"/>
                </a:ext>
              </a:extLst>
            </p:cNvPr>
            <p:cNvSpPr/>
            <p:nvPr/>
          </p:nvSpPr>
          <p:spPr>
            <a:xfrm rot="10800000">
              <a:off x="5800801" y="5488982"/>
              <a:ext cx="340415" cy="34041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46BC46-AD78-4932-95BA-D3009154CA7A}"/>
                </a:ext>
              </a:extLst>
            </p:cNvPr>
            <p:cNvSpPr/>
            <p:nvPr/>
          </p:nvSpPr>
          <p:spPr>
            <a:xfrm>
              <a:off x="5752675" y="5440856"/>
              <a:ext cx="340415" cy="3404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8118F0-6EA8-4901-9161-9101C6DDD9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129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013D-A80D-4455-B886-0C344829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D3AB-20B9-4D90-8106-506F44368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585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9DF39-257F-4C10-A7B4-1AA1C66F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00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57E5E-B324-4633-AB65-4A53498B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2A16D-8423-4C91-B839-F9538025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AD46B-C875-4F91-8991-4A4E5D76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935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70C3-74D3-4445-A879-4F7CF42E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64494-3C1C-49FE-ADB2-6F41CEEA8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E19A6-8340-43A4-9B30-A27DEB9E2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9500" y="2525561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4B31-0090-483A-BF84-CEA2B22D5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495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DB9E9-0BD8-4F85-9342-5C5BA0D35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4950" y="2525560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E3D3E-6168-45C3-BAB4-04FFFB98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F8D02-7CCF-4321-847A-CD553E52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66368-2A9A-4617-A2A9-E4E9ACD0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412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855A-C7D7-455F-BD47-AB4221DD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79500"/>
            <a:ext cx="10026650" cy="46894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9F6FD-C2F8-4688-B52A-ED76F48B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58F0F-237C-4F8E-A5A7-48269F70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3629E-70C3-44A4-A268-2194CD42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5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232D4-EC56-49D3-B967-D972B5E5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C3171-136A-405F-B1CF-C0DAFAA2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23E7E-BA29-40D2-BE24-10E7F705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71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07EF-706F-47DD-B487-7C3E4EDE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607" y="1011238"/>
            <a:ext cx="3906000" cy="12924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98442-7D9F-4D62-866B-FBA382F0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0" y="955230"/>
            <a:ext cx="5583193" cy="4813745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4800"/>
            </a:lvl1pPr>
            <a:lvl2pPr marL="0">
              <a:lnSpc>
                <a:spcPct val="100000"/>
              </a:lnSpc>
              <a:defRPr sz="4800"/>
            </a:lvl2pPr>
            <a:lvl3pPr marL="0" indent="0">
              <a:buNone/>
              <a:defRPr sz="2000"/>
            </a:lvl3pPr>
            <a:lvl4pPr marL="0">
              <a:defRPr sz="2000"/>
            </a:lvl4pPr>
            <a:lvl5pPr marL="360000"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D1DB7-AC43-460E-B3C5-9F8B37D1B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499" y="2664000"/>
            <a:ext cx="3905999" cy="3106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C5DE9-6995-4F6E-AF64-6CE9A67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C655-2B4D-48CA-90B9-74040033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4A7E0-1D83-4CE0-9FFE-3EEE2B3C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02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7F85-950A-4BED-AE31-5C85DE4F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1" y="1011238"/>
            <a:ext cx="3905250" cy="1292662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3A008-3741-4305-8A06-C0D8404A3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31813"/>
            <a:ext cx="6113812" cy="578484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ADC63-3365-4920-AF26-600F4D2EA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500" y="2663825"/>
            <a:ext cx="3905250" cy="31051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161BE-EF8B-4F4D-8197-61442EBC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37897-BFE5-414E-9334-53116988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BF024-9A20-4B80-976D-420DCCD1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937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794F-0C7D-47A6-A355-9B54F3A0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8BEFC-5F95-43C3-A662-CF24426CB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500" y="1790700"/>
            <a:ext cx="10026650" cy="3978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20A41-C226-41AB-8766-C9BF3E9B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795E9-017B-4505-810D-A5F553A5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A1BD-3429-4C11-B230-8AD083EC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791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11CA2-18BF-408B-A40C-B43A0A7B8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99079" y="1079500"/>
            <a:ext cx="1292662" cy="4689476"/>
          </a:xfrm>
        </p:spPr>
        <p:txBody>
          <a:bodyPr vert="eaVer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424B6-12FC-41A1-AF7C-7E3931D97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499" y="1079500"/>
            <a:ext cx="8495943" cy="46894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CF957-F921-48CF-97FE-91190C1A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3F49D-6E0C-47F7-BAAD-A427913D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8A122-F390-46CF-BECF-3AE05CA5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56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00152-D18D-4405-8FB2-5985831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E92E1-0C4A-474E-8E29-8DB40410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2E245-B48B-4526-8D2D-9475E64B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4F0E216-BA48-4F04-AC4F-645AA0DD6AC6}" type="datetimeFigureOut">
              <a:rPr lang="en-US" smtClean="0"/>
              <a:pPr/>
              <a:t>11/29/2025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0FE5C-A494-40F2-A357-786AFFA63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86A1-EDE2-44D9-A671-F708A6F88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2222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56" r:id="rId6"/>
    <p:sldLayoutId id="2147483752" r:id="rId7"/>
    <p:sldLayoutId id="2147483753" r:id="rId8"/>
    <p:sldLayoutId id="2147483754" r:id="rId9"/>
    <p:sldLayoutId id="2147483755" r:id="rId10"/>
    <p:sldLayoutId id="214748375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cap="all" spc="4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25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jmcauley.ucsd.edu/data/amazon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B728A-5B3A-B54F-6DF8-D4B31B533F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Analysis of amazon review dataset using bigdata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F86EC4-F92A-0033-654E-D471F86444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0" dirty="0">
                <a:solidFill>
                  <a:srgbClr val="FFFFFF">
                    <a:alpha val="70000"/>
                  </a:srgbClr>
                </a:solidFill>
              </a:rPr>
              <a:t>BOBBILI VAMSHI</a:t>
            </a:r>
          </a:p>
          <a:p>
            <a:r>
              <a:rPr lang="en-US" i="0" dirty="0">
                <a:solidFill>
                  <a:srgbClr val="FFFFFF">
                    <a:alpha val="70000"/>
                  </a:srgbClr>
                </a:solidFill>
              </a:rPr>
              <a:t>2024000164</a:t>
            </a:r>
          </a:p>
        </p:txBody>
      </p:sp>
    </p:spTree>
    <p:extLst>
      <p:ext uri="{BB962C8B-B14F-4D97-AF65-F5344CB8AC3E}">
        <p14:creationId xmlns:p14="http://schemas.microsoft.com/office/powerpoint/2010/main" val="1955094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F9FA4-3CA1-0FDC-9FA1-7B5D6CB18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3451-E89A-6281-78A6-0575B6C16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9410" indent="-359410" algn="just"/>
            <a:r>
              <a:rPr lang="en-US" b="1" dirty="0">
                <a:ea typeface="+mn-lt"/>
                <a:cs typeface="+mn-lt"/>
              </a:rPr>
              <a:t>The main  ideology behind this project is to analyze large-scale customer feedback from the Amazon Reviews (1996-2023) dataset using </a:t>
            </a:r>
            <a:r>
              <a:rPr lang="en-US" b="1" err="1">
                <a:ea typeface="+mn-lt"/>
                <a:cs typeface="+mn-lt"/>
              </a:rPr>
              <a:t>PySpark</a:t>
            </a:r>
            <a:r>
              <a:rPr lang="en-US" b="1" dirty="0">
                <a:ea typeface="+mn-lt"/>
                <a:cs typeface="+mn-lt"/>
              </a:rPr>
              <a:t>. The goal is to extract meaningful insights, understand customer sentiments, identify trends, and build data-driven models to support decision-making.</a:t>
            </a:r>
            <a:endParaRPr lang="en-US" b="1" dirty="0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 algn="just">
              <a:buClr>
                <a:srgbClr val="EF8C6A"/>
              </a:buClr>
            </a:pPr>
            <a:r>
              <a:rPr lang="en-US" b="1" dirty="0">
                <a:solidFill>
                  <a:srgbClr val="FFFFFF">
                    <a:alpha val="70000"/>
                  </a:srgbClr>
                </a:solidFill>
              </a:rPr>
              <a:t>Not only the analysis of the dataset we also have data of 25 years of purchase history for famous e-commerce platform amazon so that we can know which products has been domination and  mostly sold and also which products made more impact all over these year.</a:t>
            </a:r>
          </a:p>
          <a:p>
            <a:pPr marL="359410" indent="-359410">
              <a:buClr>
                <a:srgbClr val="EF8C6A"/>
              </a:buClr>
            </a:pPr>
            <a:endParaRPr lang="en-US" dirty="0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>
              <a:buClr>
                <a:srgbClr val="EF8C6A"/>
              </a:buClr>
            </a:pPr>
            <a:endParaRPr lang="en-US" dirty="0">
              <a:solidFill>
                <a:srgbClr val="FFFFFF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204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40FBD-0292-D582-C6C8-8A64BCED4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FOLLOWED: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1662023-BE03-C7A0-0CDE-ACAE02D0AC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4709" y="1731066"/>
            <a:ext cx="10387535" cy="403790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208200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B3AC2-3B06-2295-5612-03FE02A42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D4B0F-2E48-2905-EA22-73067D256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9410" indent="-359410" algn="just"/>
            <a:r>
              <a:rPr lang="en-US" dirty="0"/>
              <a:t>Primary Download Source</a:t>
            </a:r>
            <a:endParaRPr lang="en-US" dirty="0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 algn="just">
              <a:buClr>
                <a:srgbClr val="EF8C6A"/>
              </a:buClr>
            </a:pPr>
            <a:r>
              <a:rPr lang="en-US" dirty="0">
                <a:ea typeface="+mn-lt"/>
                <a:cs typeface="+mn-lt"/>
              </a:rPr>
              <a:t>The dataset was obtained from the McAuley Lab website at the University of California, San Diego (UCSD), which hosts the publicly available Amazon review data for research purposes.</a:t>
            </a:r>
            <a:endParaRPr lang="en-US" dirty="0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 algn="just">
              <a:buClr>
                <a:srgbClr val="EF8C6A"/>
              </a:buClr>
            </a:pPr>
            <a:r>
              <a:rPr lang="en-US" dirty="0">
                <a:ea typeface="+mn-lt"/>
                <a:cs typeface="+mn-lt"/>
              </a:rPr>
              <a:t>Official Website: </a:t>
            </a:r>
            <a:r>
              <a:rPr lang="en-US" dirty="0">
                <a:solidFill>
                  <a:schemeClr val="tx1"/>
                </a:solidFill>
                <a:latin typeface="Consola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http://jmcauley.ucsd.edu/data/amazon/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 algn="just">
              <a:buClr>
                <a:srgbClr val="EF8C6A"/>
              </a:buClr>
            </a:pPr>
            <a:r>
              <a:rPr lang="en-US" dirty="0">
                <a:ea typeface="+mn-lt"/>
                <a:cs typeface="+mn-lt"/>
              </a:rPr>
              <a:t>Original Compiler: The dataset was curated by Julian McAuley and colleagues.</a:t>
            </a:r>
            <a:endParaRPr lang="en-US" dirty="0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 algn="just">
              <a:buClr>
                <a:srgbClr val="EF8C6A"/>
              </a:buClr>
            </a:pPr>
            <a:r>
              <a:rPr lang="en-US" dirty="0">
                <a:ea typeface="+mn-lt"/>
                <a:cs typeface="+mn-lt"/>
              </a:rPr>
              <a:t>Version Used: </a:t>
            </a:r>
            <a:r>
              <a:rPr lang="en-US" i="1" dirty="0">
                <a:ea typeface="+mn-lt"/>
                <a:cs typeface="+mn-lt"/>
              </a:rPr>
              <a:t>[ Amazon Reviews Data  and meta data 2023]</a:t>
            </a:r>
            <a:endParaRPr lang="en-US" dirty="0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>
              <a:buClr>
                <a:srgbClr val="EF8C6A"/>
              </a:buClr>
            </a:pPr>
            <a:endParaRPr lang="en-US" dirty="0">
              <a:solidFill>
                <a:srgbClr val="FFFFFF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0604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88F26-3E90-1B0A-BA11-26941A03F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Format: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638DD-EA4A-DD1A-340E-40A86AA2A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9410" indent="-359410" algn="just"/>
            <a:r>
              <a:rPr lang="en-US" b="1" dirty="0">
                <a:ea typeface="+mn-lt"/>
                <a:cs typeface="+mn-lt"/>
              </a:rPr>
              <a:t>The Amazon Review data was initially downloaded in JSON (JavaScript Object Notation) format.</a:t>
            </a:r>
            <a:endParaRPr lang="en-US" b="1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 algn="just">
              <a:buClr>
                <a:srgbClr val="EF8C6A"/>
              </a:buClr>
            </a:pPr>
            <a:r>
              <a:rPr lang="en-US" b="1" dirty="0">
                <a:ea typeface="+mn-lt"/>
                <a:cs typeface="+mn-lt"/>
              </a:rPr>
              <a:t>JSON is hierarchical and unstructured/semi-structured, which is common for web data but not ideal for traditional tabular analysis</a:t>
            </a:r>
            <a:endParaRPr lang="en-US" b="1" dirty="0">
              <a:solidFill>
                <a:srgbClr val="FFFFFF">
                  <a:alpha val="70000"/>
                </a:srgbClr>
              </a:solidFill>
              <a:ea typeface="+mn-lt"/>
              <a:cs typeface="+mn-lt"/>
            </a:endParaRPr>
          </a:p>
          <a:p>
            <a:pPr marL="359410" indent="-359410" algn="just">
              <a:buClr>
                <a:srgbClr val="EF8C6A"/>
              </a:buClr>
            </a:pP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To prepare the data for efficient Exploratory Data Analysis (EDA) and machine learning model training, the raw JSON data was converted into a flat, tabular structure.</a:t>
            </a:r>
            <a:endParaRPr lang="en-US" b="1" dirty="0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>
              <a:buClr>
                <a:srgbClr val="EF8C6A"/>
              </a:buClr>
            </a:pP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>
              <a:buClr>
                <a:srgbClr val="EF8C6A"/>
              </a:buClr>
            </a:pPr>
            <a:endParaRPr lang="en-US" dirty="0">
              <a:solidFill>
                <a:srgbClr val="FFFFFF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883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4B2F201-FBD2-938F-B463-6180DFE5267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7938"/>
            <a:ext cx="12179300" cy="685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986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8F93B5-1D97-2D09-D97C-A6C5819A6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91" y="0"/>
            <a:ext cx="121802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669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7C208-1A62-66D4-1BD7-90490573E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145DEB-EBA8-4A13-D369-33FCB474A8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9" t="10321" r="3595" b="4472"/>
          <a:stretch>
            <a:fillRect/>
          </a:stretch>
        </p:blipFill>
        <p:spPr>
          <a:xfrm>
            <a:off x="2619" y="15712"/>
            <a:ext cx="12178805" cy="683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052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4BFAC-02EC-8B94-464F-38A8BC4B5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USINg</a:t>
            </a:r>
            <a:r>
              <a:rPr lang="en-US" dirty="0"/>
              <a:t> HDFS FOR STORAGE: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D114A-6470-34B9-A87A-B6144560D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59410" indent="-359410"/>
            <a:r>
              <a:rPr lang="en-US" b="1" dirty="0">
                <a:ea typeface="+mn-lt"/>
                <a:cs typeface="+mn-lt"/>
              </a:rPr>
              <a:t>HDFS (Hadoop Distributed File System) is the primary storage system used by Hadoop and is fundamental to large-scale data processing</a:t>
            </a:r>
            <a:endParaRPr lang="en-US" b="1" dirty="0">
              <a:solidFill>
                <a:srgbClr val="FFFFFF">
                  <a:alpha val="70000"/>
                </a:srgbClr>
              </a:solidFill>
              <a:ea typeface="+mn-lt"/>
              <a:cs typeface="+mn-lt"/>
            </a:endParaRPr>
          </a:p>
          <a:p>
            <a:pPr marL="359410" indent="-359410">
              <a:buClr>
                <a:srgbClr val="EF8C6A"/>
              </a:buClr>
            </a:pPr>
            <a:r>
              <a:rPr lang="en-US" b="1" dirty="0">
                <a:ea typeface="+mn-lt"/>
                <a:cs typeface="+mn-lt"/>
              </a:rPr>
              <a:t>Distributed Storage, Large File Optimization, Data Locality, Fault Tolerance and Reliability</a:t>
            </a:r>
            <a:endParaRPr lang="en-US" b="1" dirty="0">
              <a:solidFill>
                <a:srgbClr val="FFFFFF">
                  <a:alpha val="70000"/>
                </a:srgbClr>
              </a:solidFill>
              <a:ea typeface="+mn-lt"/>
              <a:cs typeface="+mn-lt"/>
            </a:endParaRPr>
          </a:p>
          <a:p>
            <a:pPr marL="359410" indent="-359410">
              <a:buClr>
                <a:srgbClr val="EF8C6A"/>
              </a:buClr>
            </a:pPr>
            <a:r>
              <a:rPr lang="en-US" b="1" dirty="0">
                <a:ea typeface="+mn-lt"/>
                <a:cs typeface="+mn-lt"/>
              </a:rPr>
              <a:t>cs-gss-21@csgss21-OptiPlex-Tower-Plus-7010:~$ </a:t>
            </a:r>
            <a:r>
              <a:rPr lang="en-US" b="1" err="1">
                <a:ea typeface="+mn-lt"/>
                <a:cs typeface="+mn-lt"/>
              </a:rPr>
              <a:t>sudo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su</a:t>
            </a:r>
            <a:r>
              <a:rPr lang="en-US" b="1" dirty="0">
                <a:ea typeface="+mn-lt"/>
                <a:cs typeface="+mn-lt"/>
              </a:rPr>
              <a:t> – </a:t>
            </a:r>
            <a:r>
              <a:rPr lang="en-US" b="1" err="1">
                <a:ea typeface="+mn-lt"/>
                <a:cs typeface="+mn-lt"/>
              </a:rPr>
              <a:t>hadoop</a:t>
            </a:r>
            <a:endParaRPr lang="en-US" b="1">
              <a:solidFill>
                <a:srgbClr val="FFFFFF">
                  <a:alpha val="70000"/>
                </a:srgbClr>
              </a:solidFill>
              <a:ea typeface="+mn-lt"/>
              <a:cs typeface="+mn-lt"/>
            </a:endParaRPr>
          </a:p>
          <a:p>
            <a:pPr marL="359410" indent="-359410">
              <a:buClr>
                <a:srgbClr val="EF8C6A"/>
              </a:buClr>
            </a:pP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hadoop@csgss21-OptiPlex-Tower-Plus-7010:~$ start-all.sh</a:t>
            </a:r>
          </a:p>
          <a:p>
            <a:pPr marL="359410" indent="-359410">
              <a:buClr>
                <a:srgbClr val="EF8C6A"/>
              </a:buClr>
            </a:pP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$ </a:t>
            </a:r>
            <a:r>
              <a:rPr lang="en-US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sudo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 cp home/documents/</a:t>
            </a:r>
            <a:r>
              <a:rPr lang="en-US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amazon_reviews.json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 ./</a:t>
            </a:r>
          </a:p>
          <a:p>
            <a:pPr marL="359410" indent="-359410">
              <a:buClr>
                <a:srgbClr val="EF8C6A"/>
              </a:buClr>
            </a:pP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$ </a:t>
            </a:r>
            <a:r>
              <a:rPr lang="en-US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hdfs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 </a:t>
            </a:r>
            <a:r>
              <a:rPr lang="en-US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dfs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 -</a:t>
            </a:r>
            <a:r>
              <a:rPr lang="en-US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mkdir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 -p /user/</a:t>
            </a:r>
            <a:r>
              <a:rPr lang="en-US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hadoop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/</a:t>
            </a:r>
            <a:r>
              <a:rPr lang="en-US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raw_data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/</a:t>
            </a:r>
          </a:p>
          <a:p>
            <a:pPr marL="359410" indent="-359410">
              <a:buClr>
                <a:srgbClr val="EF8C6A"/>
              </a:buClr>
            </a:pP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$ </a:t>
            </a:r>
            <a:r>
              <a:rPr lang="en-US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hdfs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dfs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 -put </a:t>
            </a:r>
            <a:r>
              <a:rPr lang="en-US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amazon_reviews.json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 /user/</a:t>
            </a:r>
            <a:r>
              <a:rPr lang="en-US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hadoop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/</a:t>
            </a:r>
            <a:r>
              <a:rPr lang="en-US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raw_data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/</a:t>
            </a:r>
          </a:p>
          <a:p>
            <a:pPr marL="0" indent="514350">
              <a:buClr>
                <a:srgbClr val="EF8C6A"/>
              </a:buClr>
              <a:buNone/>
            </a:pPr>
            <a:r>
              <a:rPr lang="en-US" sz="1400" b="1" dirty="0">
                <a:solidFill>
                  <a:srgbClr val="FFFFFF">
                    <a:alpha val="70000"/>
                  </a:srgbClr>
                </a:solidFill>
              </a:rPr>
              <a:t>(The file is broken down into blocks 128mb with replication factor of 3)</a:t>
            </a:r>
          </a:p>
          <a:p>
            <a:pPr marL="342900" indent="-342900"/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$</a:t>
            </a:r>
            <a:r>
              <a:rPr lang="en-US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hdfs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dfs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 -D </a:t>
            </a:r>
            <a:r>
              <a:rPr lang="en-US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dfs.replication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=1 -D </a:t>
            </a:r>
            <a:r>
              <a:rPr lang="en-US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dfs.block.size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=1073741824 -put /home/</a:t>
            </a:r>
            <a:r>
              <a:rPr lang="en-US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hadoop_user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/</a:t>
            </a:r>
            <a:r>
              <a:rPr lang="en-US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amazon_reviews.json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 /raw/</a:t>
            </a:r>
            <a:r>
              <a:rPr lang="en-US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amazon_data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/</a:t>
            </a:r>
            <a:endParaRPr lang="en-US" b="1" dirty="0">
              <a:solidFill>
                <a:srgbClr val="FFFFFF">
                  <a:alpha val="70000"/>
                </a:srgbClr>
              </a:solidFill>
            </a:endParaRPr>
          </a:p>
          <a:p>
            <a:pPr marL="0" indent="514350"/>
            <a:endParaRPr lang="en-US" dirty="0">
              <a:solidFill>
                <a:srgbClr val="FFFFFF">
                  <a:alpha val="70000"/>
                </a:srgbClr>
              </a:solidFill>
            </a:endParaRPr>
          </a:p>
          <a:p>
            <a:pPr marL="0" indent="514350"/>
            <a:endParaRPr lang="en-US" sz="1400" dirty="0">
              <a:solidFill>
                <a:srgbClr val="FFFFFF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8381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0E784-7FF9-BD32-54DB-BE90AD0C8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pyspark</a:t>
            </a:r>
            <a:r>
              <a:rPr lang="en-US" dirty="0"/>
              <a:t> for Analysis: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28EF4-282A-4ACC-373F-6EE7DC0FF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59410" indent="-359410"/>
            <a:r>
              <a:rPr lang="en-US" err="1">
                <a:ea typeface="+mn-lt"/>
                <a:cs typeface="+mn-lt"/>
              </a:rPr>
              <a:t>PySpark</a:t>
            </a:r>
            <a:r>
              <a:rPr lang="en-US" dirty="0">
                <a:ea typeface="+mn-lt"/>
                <a:cs typeface="+mn-lt"/>
              </a:rPr>
              <a:t> is the Python API for Apache Spark, the industry-leading unified analytics engine for large-scale data processing.</a:t>
            </a: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>
              <a:buClr>
                <a:srgbClr val="EF8C6A"/>
              </a:buClr>
            </a:pPr>
            <a:r>
              <a:rPr lang="en-US" dirty="0">
                <a:ea typeface="+mn-lt"/>
                <a:cs typeface="+mn-lt"/>
              </a:rPr>
              <a:t>Combines Python's ease of use (for data science/ML) with Spark's distributed computing power.</a:t>
            </a: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>
              <a:buClr>
                <a:srgbClr val="EF8C6A"/>
              </a:buClr>
            </a:pPr>
            <a:r>
              <a:rPr lang="en-US" dirty="0">
                <a:ea typeface="+mn-lt"/>
                <a:cs typeface="+mn-lt"/>
              </a:rPr>
              <a:t>Speed (In-Memory Processing).</a:t>
            </a:r>
            <a:endParaRPr lang="en-US"/>
          </a:p>
          <a:p>
            <a:pPr marL="359410" indent="-359410">
              <a:buClr>
                <a:srgbClr val="EF8C6A"/>
              </a:buClr>
            </a:pPr>
            <a:r>
              <a:rPr lang="en-US" err="1">
                <a:ea typeface="+mn-lt"/>
                <a:cs typeface="+mn-lt"/>
              </a:rPr>
              <a:t>PySpark</a:t>
            </a:r>
            <a:r>
              <a:rPr lang="en-US" dirty="0">
                <a:ea typeface="+mn-lt"/>
                <a:cs typeface="+mn-lt"/>
              </a:rPr>
              <a:t> uses  RDDS (Unstructured/Structured) , </a:t>
            </a:r>
            <a:r>
              <a:rPr lang="en-US" err="1">
                <a:ea typeface="+mn-lt"/>
                <a:cs typeface="+mn-lt"/>
              </a:rPr>
              <a:t>DataFrames</a:t>
            </a:r>
            <a:r>
              <a:rPr lang="en-US" dirty="0">
                <a:ea typeface="+mn-lt"/>
                <a:cs typeface="+mn-lt"/>
              </a:rPr>
              <a:t> (Structured Data).</a:t>
            </a:r>
            <a:endParaRPr lang="en-US">
              <a:solidFill>
                <a:srgbClr val="FFFFFF">
                  <a:alpha val="70000"/>
                </a:srgbClr>
              </a:solidFill>
              <a:ea typeface="+mn-lt"/>
              <a:cs typeface="+mn-lt"/>
            </a:endParaRPr>
          </a:p>
          <a:p>
            <a:pPr marL="359410" indent="-359410">
              <a:buClr>
                <a:srgbClr val="EF8C6A"/>
              </a:buClr>
            </a:pPr>
            <a:r>
              <a:rPr lang="en-US" dirty="0">
                <a:ea typeface="+mn-lt"/>
                <a:cs typeface="+mn-lt"/>
              </a:rPr>
              <a:t>This allows you to easily read your JSON data, apply a schema, and perform SQL-like operations (using Spark SQL) for cleaning and feature extraction.</a:t>
            </a:r>
          </a:p>
          <a:p>
            <a:pPr marL="359410" indent="-359410">
              <a:buClr>
                <a:srgbClr val="EF8C6A"/>
              </a:buClr>
            </a:pPr>
            <a:r>
              <a:rPr lang="en-US" dirty="0">
                <a:ea typeface="+mn-lt"/>
                <a:cs typeface="+mn-lt"/>
              </a:rPr>
              <a:t>Scalability and Fault Tolerance</a:t>
            </a: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>
              <a:buClr>
                <a:srgbClr val="EF8C6A"/>
              </a:buClr>
            </a:pPr>
            <a:endParaRPr lang="en-US" dirty="0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>
              <a:buClr>
                <a:srgbClr val="EF8C6A"/>
              </a:buClr>
            </a:pPr>
            <a:endParaRPr lang="en-US" dirty="0">
              <a:solidFill>
                <a:srgbClr val="FFFFFF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70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E18B0-C966-810D-F608-9CB0DAD97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LOading</a:t>
            </a:r>
            <a:r>
              <a:rPr lang="en-US" dirty="0"/>
              <a:t> data into </a:t>
            </a:r>
            <a:r>
              <a:rPr lang="en-US" dirty="0" err="1"/>
              <a:t>pyspark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58E037-76F9-9061-DEC6-3BE4E53D1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9410" indent="-359410"/>
            <a:r>
              <a:rPr lang="en-US" b="1" dirty="0">
                <a:solidFill>
                  <a:srgbClr val="FFFFFF">
                    <a:alpha val="70000"/>
                  </a:srgbClr>
                </a:solidFill>
              </a:rPr>
              <a:t>Form </a:t>
            </a:r>
            <a:r>
              <a:rPr lang="en-US" b="1" dirty="0" err="1">
                <a:solidFill>
                  <a:srgbClr val="FFFFFF">
                    <a:alpha val="70000"/>
                  </a:srgbClr>
                </a:solidFill>
              </a:rPr>
              <a:t>pyspark.sql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</a:rPr>
              <a:t> import </a:t>
            </a:r>
            <a:r>
              <a:rPr lang="en-US" b="1" dirty="0" err="1">
                <a:solidFill>
                  <a:srgbClr val="FFFFFF">
                    <a:alpha val="70000"/>
                  </a:srgbClr>
                </a:solidFill>
              </a:rPr>
              <a:t>SparkSession</a:t>
            </a:r>
            <a:endParaRPr lang="en-US" b="1" dirty="0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>
              <a:buClr>
                <a:srgbClr val="EF8C6A"/>
              </a:buClr>
            </a:pPr>
            <a:r>
              <a:rPr lang="en-US" b="1" dirty="0">
                <a:solidFill>
                  <a:srgbClr val="FFFFFF">
                    <a:alpha val="70000"/>
                  </a:srgbClr>
                </a:solidFill>
              </a:rPr>
              <a:t>Spark=</a:t>
            </a:r>
            <a:r>
              <a:rPr lang="en-US" b="1" err="1">
                <a:solidFill>
                  <a:srgbClr val="FFFFFF">
                    <a:alpha val="70000"/>
                  </a:srgbClr>
                </a:solidFill>
              </a:rPr>
              <a:t>SparkSession.builder.appName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</a:rPr>
              <a:t>("</a:t>
            </a:r>
            <a:r>
              <a:rPr lang="en-US" b="1" err="1">
                <a:solidFill>
                  <a:srgbClr val="FFFFFF">
                    <a:alpha val="70000"/>
                  </a:srgbClr>
                </a:solidFill>
              </a:rPr>
              <a:t>my_session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</a:rPr>
              <a:t>").</a:t>
            </a:r>
            <a:r>
              <a:rPr lang="en-US" b="1" err="1">
                <a:solidFill>
                  <a:srgbClr val="FFFFFF">
                    <a:alpha val="70000"/>
                  </a:srgbClr>
                </a:solidFill>
              </a:rPr>
              <a:t>getOrCreate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</a:rPr>
              <a:t>()</a:t>
            </a:r>
          </a:p>
          <a:p>
            <a:pPr marL="359410" indent="-359410">
              <a:buClr>
                <a:srgbClr val="EF8C6A"/>
              </a:buClr>
            </a:pPr>
            <a:r>
              <a:rPr lang="en-US" b="1" err="1">
                <a:solidFill>
                  <a:srgbClr val="FFFFFF">
                    <a:alpha val="70000"/>
                  </a:srgbClr>
                </a:solidFill>
              </a:rPr>
              <a:t>Reviews_data_Frame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</a:rPr>
              <a:t>=</a:t>
            </a:r>
            <a:r>
              <a:rPr lang="en-US" b="1" err="1">
                <a:solidFill>
                  <a:srgbClr val="FFFFFF">
                    <a:alpha val="70000"/>
                  </a:srgbClr>
                </a:solidFill>
              </a:rPr>
              <a:t>Spark.read.json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</a:rPr>
              <a:t>(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'/Users/</a:t>
            </a:r>
            <a:r>
              <a:rPr lang="en-US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vamshibobbili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/Desktop/bigdata/</a:t>
            </a:r>
            <a:r>
              <a:rPr lang="en-US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Clothing_Shoes_and_Jewelry.jsonl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')</a:t>
            </a:r>
          </a:p>
          <a:p>
            <a:pPr marL="359410" indent="-359410">
              <a:buClr>
                <a:srgbClr val="EF8C6A"/>
              </a:buClr>
            </a:pPr>
            <a:r>
              <a:rPr lang="en-US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meta_data_frame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=</a:t>
            </a:r>
            <a:r>
              <a:rPr lang="en-US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spark.read.json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('/Users/</a:t>
            </a:r>
            <a:r>
              <a:rPr lang="en-US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vamshibobbili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/Desktop/bigdata/</a:t>
            </a:r>
            <a:r>
              <a:rPr lang="en-US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meta_Clothing_Shoes_and_Jewelry.jsonl</a:t>
            </a:r>
            <a:r>
              <a:rPr lang="en-US" b="1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')</a:t>
            </a:r>
            <a:endParaRPr lang="en-US" b="1" dirty="0">
              <a:solidFill>
                <a:srgbClr val="FFFFFF">
                  <a:alpha val="70000"/>
                </a:srgbClr>
              </a:solidFill>
            </a:endParaRPr>
          </a:p>
          <a:p>
            <a:pPr marL="0" indent="0">
              <a:buClr>
                <a:srgbClr val="EF8C6A"/>
              </a:buClr>
              <a:buNone/>
            </a:pPr>
            <a:endParaRPr lang="en-US" dirty="0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>
              <a:buClr>
                <a:srgbClr val="EF8C6A"/>
              </a:buClr>
            </a:pPr>
            <a:endParaRPr lang="en-US" dirty="0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>
              <a:buClr>
                <a:srgbClr val="EF8C6A"/>
              </a:buClr>
            </a:pPr>
            <a:endParaRPr lang="en-US" dirty="0">
              <a:solidFill>
                <a:srgbClr val="FFFFFF">
                  <a:alpha val="70000"/>
                </a:srgb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2710B3-083C-2D13-2597-97C5C78DE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52" y="4564383"/>
            <a:ext cx="10157792" cy="89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666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3B600-EA2A-C435-C267-E1FB6DBA7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Cleaning the </a:t>
            </a:r>
            <a:r>
              <a:rPr lang="en-US" dirty="0" err="1"/>
              <a:t>dataframe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477A1-E203-B146-C2F0-37A2FA22A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9410" indent="-359410"/>
            <a:r>
              <a:rPr lang="en-US" sz="2400" b="1" dirty="0">
                <a:solidFill>
                  <a:srgbClr val="FFFFFF">
                    <a:alpha val="70000"/>
                  </a:srgbClr>
                </a:solidFill>
              </a:rPr>
              <a:t>Checking the null values </a:t>
            </a:r>
          </a:p>
          <a:p>
            <a:pPr marL="359410" indent="-359410">
              <a:buClr>
                <a:srgbClr val="EF8C6A"/>
              </a:buClr>
            </a:pPr>
            <a:r>
              <a:rPr lang="en-US" sz="2400" b="1" dirty="0">
                <a:solidFill>
                  <a:srgbClr val="FFFFFF">
                    <a:alpha val="70000"/>
                  </a:srgbClr>
                </a:solidFill>
              </a:rPr>
              <a:t>Removing the unwanted </a:t>
            </a:r>
            <a:r>
              <a:rPr lang="en-US" sz="2400" b="1" err="1">
                <a:solidFill>
                  <a:srgbClr val="FFFFFF">
                    <a:alpha val="70000"/>
                  </a:srgbClr>
                </a:solidFill>
              </a:rPr>
              <a:t>datafields</a:t>
            </a:r>
            <a:endParaRPr lang="en-US" sz="2400" b="1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>
              <a:buClr>
                <a:srgbClr val="EF8C6A"/>
              </a:buClr>
            </a:pPr>
            <a:r>
              <a:rPr lang="en-US" sz="2400" b="1" dirty="0">
                <a:solidFill>
                  <a:srgbClr val="FFFFFF">
                    <a:alpha val="70000"/>
                  </a:srgbClr>
                </a:solidFill>
              </a:rPr>
              <a:t>Joining the tables both meta and review </a:t>
            </a:r>
          </a:p>
          <a:p>
            <a:pPr marL="359410" indent="-359410">
              <a:buClr>
                <a:srgbClr val="EF8C6A"/>
              </a:buClr>
            </a:pPr>
            <a:r>
              <a:rPr lang="en-US" sz="2400" b="1" dirty="0">
                <a:solidFill>
                  <a:srgbClr val="FFFFFF">
                    <a:alpha val="70000"/>
                  </a:srgbClr>
                </a:solidFill>
              </a:rPr>
              <a:t>Selecting the respective data Fields form the joined tables so that we can analyze the data </a:t>
            </a:r>
          </a:p>
          <a:p>
            <a:pPr marL="0" indent="0">
              <a:buClr>
                <a:srgbClr val="EF8C6A"/>
              </a:buClr>
              <a:buNone/>
            </a:pPr>
            <a:endParaRPr lang="en-US" dirty="0">
              <a:solidFill>
                <a:srgbClr val="FFFFFF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960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B4BB6-63DF-F96B-9BC2-103BBAD3C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Joining the two tables: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60D6422-447F-04B9-05D7-2CB1353FFF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9500" y="1711793"/>
            <a:ext cx="10026650" cy="405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101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6F699-A31C-44A1-A2A8-45AACF9D4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Checking for null Values and removing: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38E8C04-E041-5064-DD36-09413E3CBD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6628" y="1945850"/>
            <a:ext cx="9531744" cy="15282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F7906A-4AE9-9E6E-23FE-F8373D1DC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913" y="3846956"/>
            <a:ext cx="9528929" cy="22748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408FD4-0F15-E6C1-EB31-2B10BB4987F2}"/>
              </a:ext>
            </a:extLst>
          </p:cNvPr>
          <p:cNvSpPr txBox="1"/>
          <p:nvPr/>
        </p:nvSpPr>
        <p:spPr>
          <a:xfrm>
            <a:off x="1077720" y="1542892"/>
            <a:ext cx="312655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Null Values: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BA2C62-5A73-F005-C4BA-5E1C5E46FA77}"/>
              </a:ext>
            </a:extLst>
          </p:cNvPr>
          <p:cNvSpPr txBox="1"/>
          <p:nvPr/>
        </p:nvSpPr>
        <p:spPr>
          <a:xfrm>
            <a:off x="1076875" y="3476230"/>
            <a:ext cx="323692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Removing Null Values:</a:t>
            </a:r>
          </a:p>
        </p:txBody>
      </p:sp>
    </p:spTree>
    <p:extLst>
      <p:ext uri="{BB962C8B-B14F-4D97-AF65-F5344CB8AC3E}">
        <p14:creationId xmlns:p14="http://schemas.microsoft.com/office/powerpoint/2010/main" val="362534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8C838-0900-9517-6497-0BC416438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our required </a:t>
            </a:r>
            <a:r>
              <a:rPr lang="en-US" dirty="0" err="1"/>
              <a:t>datafields</a:t>
            </a:r>
            <a:r>
              <a:rPr lang="en-US" dirty="0"/>
              <a:t>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1103B4-9D2E-99A4-9B22-FF68CE3751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1873" y="1668468"/>
            <a:ext cx="9452791" cy="43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971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58DCA-9478-D09F-EB84-02CF48814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1: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47F38-C2D1-FCD3-1222-106B4F5B5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9410" indent="-359410"/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Highest priced product till 2023:</a:t>
            </a:r>
            <a:endParaRPr lang="en-US" dirty="0"/>
          </a:p>
          <a:p>
            <a:pPr marL="0" indent="0">
              <a:buClr>
                <a:srgbClr val="EF8C6A"/>
              </a:buClr>
              <a:buNone/>
            </a:pPr>
            <a:endParaRPr lang="en-US" dirty="0">
              <a:solidFill>
                <a:srgbClr val="FFFFFF">
                  <a:alpha val="70000"/>
                </a:srgb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34FA33-4144-3533-8636-0315212EA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27" y="2345577"/>
            <a:ext cx="10031691" cy="381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757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56C86-5A7C-CFD2-6467-75D17E3D8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2: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32395-3627-3AD6-243F-70F409ACC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203" y="1664750"/>
            <a:ext cx="10026650" cy="3978275"/>
          </a:xfrm>
        </p:spPr>
        <p:txBody>
          <a:bodyPr/>
          <a:lstStyle/>
          <a:p>
            <a:pPr marL="359410" indent="-359410"/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US Dollars to India rupees</a:t>
            </a:r>
          </a:p>
          <a:p>
            <a:pPr marL="359410" indent="-359410">
              <a:buClr>
                <a:srgbClr val="EF8C6A"/>
              </a:buClr>
            </a:pPr>
            <a:endParaRPr lang="en-US" dirty="0">
              <a:solidFill>
                <a:srgbClr val="FFFFFF">
                  <a:alpha val="70000"/>
                </a:srgb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7FA26B-8FE4-C08F-3BB2-D5BF9792A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66" y="2142716"/>
            <a:ext cx="10026211" cy="422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191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5CF7D-FBFE-7758-717B-A0AEFF496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3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A2C5B-1728-821E-6768-FD16A4987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0" y="1665009"/>
            <a:ext cx="10026650" cy="3978275"/>
          </a:xfrm>
        </p:spPr>
        <p:txBody>
          <a:bodyPr/>
          <a:lstStyle/>
          <a:p>
            <a:pPr marL="359410" indent="-359410"/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Time conversion</a:t>
            </a:r>
          </a:p>
          <a:p>
            <a:pPr marL="359410" indent="-359410">
              <a:buClr>
                <a:srgbClr val="EF8C6A"/>
              </a:buClr>
            </a:pPr>
            <a:endParaRPr lang="en-US" dirty="0">
              <a:solidFill>
                <a:srgbClr val="FFFFFF">
                  <a:alpha val="70000"/>
                </a:srgb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C7B031-F67C-4BF6-520F-C5782A184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566" y="2183747"/>
            <a:ext cx="10025607" cy="421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712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1B598-FE3F-9CA8-2F1F-E36B489EC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4: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EAF8332-6C86-4B8C-7DA8-6537B9B8EC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1800" y="2047665"/>
            <a:ext cx="10026235" cy="39075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E62CD3-B585-6863-B6E3-EB34529ACBFB}"/>
              </a:ext>
            </a:extLst>
          </p:cNvPr>
          <p:cNvSpPr txBox="1"/>
          <p:nvPr/>
        </p:nvSpPr>
        <p:spPr>
          <a:xfrm>
            <a:off x="1077719" y="1526985"/>
            <a:ext cx="98667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To get the products belonging to a certain category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344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9A38-B1E1-7A52-0E81-F25B1260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5: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9D41-840A-CBE7-5A21-36E24813B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0" y="3279530"/>
            <a:ext cx="10026650" cy="3333506"/>
          </a:xfrm>
        </p:spPr>
        <p:txBody>
          <a:bodyPr/>
          <a:lstStyle/>
          <a:p>
            <a:pPr marL="359410" indent="-359410"/>
            <a:r>
              <a:rPr lang="en-US" sz="1400" dirty="0">
                <a:latin typeface="menlo"/>
              </a:rPr>
              <a:t>This review has nothing to do with any sellers. I like to come to amazon for reviews so I feel this is one of the best places to post my review of the Moto 360 and as of yet this listing seems to be the most prominent, so...&lt;</a:t>
            </a:r>
            <a:r>
              <a:rPr lang="en-US" sz="1400" dirty="0" err="1">
                <a:latin typeface="menlo"/>
              </a:rPr>
              <a:t>br</a:t>
            </a:r>
            <a:r>
              <a:rPr lang="en-US" sz="1400" dirty="0">
                <a:latin typeface="menlo"/>
              </a:rPr>
              <a:t> /&gt;&lt;</a:t>
            </a:r>
            <a:r>
              <a:rPr lang="en-US" sz="1400" dirty="0" err="1">
                <a:latin typeface="menlo"/>
              </a:rPr>
              <a:t>br</a:t>
            </a:r>
            <a:r>
              <a:rPr lang="en-US" sz="1400" dirty="0">
                <a:latin typeface="menlo"/>
              </a:rPr>
              <a:t> /&gt;I've been using a Pebble for about a year so I have a baseline to compare this verses what has been regarded as the best smartwatch to date.&lt;</a:t>
            </a:r>
            <a:r>
              <a:rPr lang="en-US" sz="1400" dirty="0" err="1">
                <a:latin typeface="menlo"/>
              </a:rPr>
              <a:t>br</a:t>
            </a:r>
            <a:r>
              <a:rPr lang="en-US" sz="1400" dirty="0">
                <a:latin typeface="menlo"/>
              </a:rPr>
              <a:t> /&gt;&lt;</a:t>
            </a:r>
            <a:r>
              <a:rPr lang="en-US" sz="1400" dirty="0" err="1">
                <a:latin typeface="menlo"/>
              </a:rPr>
              <a:t>br</a:t>
            </a:r>
            <a:r>
              <a:rPr lang="en-US" sz="1400" dirty="0">
                <a:latin typeface="menlo"/>
              </a:rPr>
              <a:t> /&gt;Purchase experience:&lt;</a:t>
            </a:r>
            <a:r>
              <a:rPr lang="en-US" sz="1400" dirty="0" err="1">
                <a:latin typeface="menlo"/>
              </a:rPr>
              <a:t>br</a:t>
            </a:r>
            <a:r>
              <a:rPr lang="en-US" sz="1400" dirty="0">
                <a:latin typeface="menlo"/>
              </a:rPr>
              <a:t> /&gt;I ordered the moto 360 directly from Motorola just a few minutes after it started selling and received it on 9/15/14. I was tempted to pay a premium to get it a few days faster, but really a few extra days was no big deal and this watch is nice but it is not worth it to pay a premium.&lt;</a:t>
            </a:r>
            <a:r>
              <a:rPr lang="en-US" sz="1400" dirty="0" err="1">
                <a:latin typeface="menlo"/>
              </a:rPr>
              <a:t>br</a:t>
            </a:r>
            <a:r>
              <a:rPr lang="en-US" sz="1400" dirty="0">
                <a:latin typeface="menlo"/>
              </a:rPr>
              <a:t> /&gt;&lt;</a:t>
            </a:r>
            <a:r>
              <a:rPr lang="en-US" sz="1400" dirty="0" err="1">
                <a:latin typeface="menlo"/>
              </a:rPr>
              <a:t>br</a:t>
            </a:r>
            <a:r>
              <a:rPr lang="en-US" sz="1400" dirty="0">
                <a:latin typeface="menlo"/>
              </a:rPr>
              <a:t> /&gt;Initial impression:&lt;</a:t>
            </a:r>
            <a:r>
              <a:rPr lang="en-US" sz="1400" dirty="0" err="1">
                <a:latin typeface="menlo"/>
              </a:rPr>
              <a:t>br</a:t>
            </a:r>
            <a:r>
              <a:rPr lang="en-US" sz="1400" dirty="0">
                <a:latin typeface="menlo"/>
              </a:rPr>
              <a:t> /&gt;I saw all the box opening videos, so I knew what to expect. What I didn't expect was that the watch is really big. I have quite a lot of watches of all types and even "dive" watches and this is as big as the biggest watches I have - which is big..............</a:t>
            </a:r>
            <a:endParaRPr lang="en-US" sz="1400" dirty="0">
              <a:solidFill>
                <a:srgbClr val="FFFFFF">
                  <a:alpha val="70000"/>
                </a:srgb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40E548-B5BB-71BA-0CDF-A35DF9AE7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476" y="2036884"/>
            <a:ext cx="10263555" cy="1143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872928-87E1-0C0D-7DE0-4EF43DE02645}"/>
              </a:ext>
            </a:extLst>
          </p:cNvPr>
          <p:cNvSpPr txBox="1"/>
          <p:nvPr/>
        </p:nvSpPr>
        <p:spPr>
          <a:xfrm>
            <a:off x="1209124" y="1511405"/>
            <a:ext cx="50380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Longest written review ever:</a:t>
            </a:r>
          </a:p>
        </p:txBody>
      </p:sp>
    </p:spTree>
    <p:extLst>
      <p:ext uri="{BB962C8B-B14F-4D97-AF65-F5344CB8AC3E}">
        <p14:creationId xmlns:p14="http://schemas.microsoft.com/office/powerpoint/2010/main" val="3789030102"/>
      </p:ext>
    </p:extLst>
  </p:cSld>
  <p:clrMapOvr>
    <a:masterClrMapping/>
  </p:clrMapOvr>
</p:sld>
</file>

<file path=ppt/theme/theme1.xml><?xml version="1.0" encoding="utf-8"?>
<a:theme xmlns:a="http://schemas.openxmlformats.org/drawingml/2006/main" name="LeafVTI">
  <a:themeElements>
    <a:clrScheme name="Leaf">
      <a:dk1>
        <a:sysClr val="windowText" lastClr="000000"/>
      </a:dk1>
      <a:lt1>
        <a:sysClr val="window" lastClr="FFFFFF"/>
      </a:lt1>
      <a:dk2>
        <a:srgbClr val="732124"/>
      </a:dk2>
      <a:lt2>
        <a:srgbClr val="F0EDE5"/>
      </a:lt2>
      <a:accent1>
        <a:srgbClr val="D34817"/>
      </a:accent1>
      <a:accent2>
        <a:srgbClr val="A68D65"/>
      </a:accent2>
      <a:accent3>
        <a:srgbClr val="728377"/>
      </a:accent3>
      <a:accent4>
        <a:srgbClr val="B4797B"/>
      </a:accent4>
      <a:accent5>
        <a:srgbClr val="CE8439"/>
      </a:accent5>
      <a:accent6>
        <a:srgbClr val="CF3A2A"/>
      </a:accent6>
      <a:hlink>
        <a:srgbClr val="D06853"/>
      </a:hlink>
      <a:folHlink>
        <a:srgbClr val="B67779"/>
      </a:folHlink>
    </a:clrScheme>
    <a:fontScheme name="Leaf">
      <a:majorFont>
        <a:latin typeface="Rockwell Nova Light"/>
        <a:ea typeface=""/>
        <a:cs typeface=""/>
      </a:majorFont>
      <a:minorFont>
        <a:latin typeface="Avenir Next LT Pro Ligh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afVTI" id="{AD13D32C-3873-4EF1-A28C-5D0E64FF0913}" vid="{0D2E0FD0-9C17-4337-BD21-33917FC300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LeafVTI</vt:lpstr>
      <vt:lpstr>Analysis of amazon review dataset using bigdata architecture</vt:lpstr>
      <vt:lpstr>Objective</vt:lpstr>
      <vt:lpstr>ARCHITECTURE FOLLOWED:</vt:lpstr>
      <vt:lpstr>DATA SOURCE:</vt:lpstr>
      <vt:lpstr>Data Format:</vt:lpstr>
      <vt:lpstr>PowerPoint Presentation</vt:lpstr>
      <vt:lpstr>PowerPoint Presentation</vt:lpstr>
      <vt:lpstr>PowerPoint Presentation</vt:lpstr>
      <vt:lpstr>USINg HDFS FOR STORAGE:</vt:lpstr>
      <vt:lpstr>pyspark for Analysis:</vt:lpstr>
      <vt:lpstr>LOading data into pyspark</vt:lpstr>
      <vt:lpstr>Cleaning the dataframe:</vt:lpstr>
      <vt:lpstr>Joining the two tables:</vt:lpstr>
      <vt:lpstr>Checking for null Values and removing:</vt:lpstr>
      <vt:lpstr>Selecting our required datafields:</vt:lpstr>
      <vt:lpstr>Query 1:</vt:lpstr>
      <vt:lpstr>Query 2: </vt:lpstr>
      <vt:lpstr>Query 3 </vt:lpstr>
      <vt:lpstr>Query 4:</vt:lpstr>
      <vt:lpstr>Query 5: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451</cp:revision>
  <dcterms:created xsi:type="dcterms:W3CDTF">2025-11-28T02:19:15Z</dcterms:created>
  <dcterms:modified xsi:type="dcterms:W3CDTF">2025-11-29T10:04:54Z</dcterms:modified>
</cp:coreProperties>
</file>